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5400">
                <a:latin typeface="华文新魏" panose="02010800040101010101" charset="-122"/>
                <a:ea typeface="华文新魏" panose="02010800040101010101" charset="-122"/>
              </a:rPr>
              <a:t>Office</a:t>
            </a:r>
            <a:r>
              <a:rPr lang="zh-CN" altLang="en-US" sz="5400">
                <a:latin typeface="华文新魏" panose="02010800040101010101" charset="-122"/>
                <a:ea typeface="华文新魏" panose="02010800040101010101" charset="-122"/>
              </a:rPr>
              <a:t>教程</a:t>
            </a:r>
            <a:endParaRPr lang="zh-CN" altLang="en-US" sz="54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560445"/>
            <a:ext cx="9799320" cy="2265680"/>
          </a:xfrm>
        </p:spPr>
        <p:txBody>
          <a:bodyPr>
            <a:normAutofit lnSpcReduction="10000"/>
          </a:bodyPr>
          <a:p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</a:rPr>
              <a:t>所学重点</a:t>
            </a:r>
            <a:endParaRPr lang="zh-CN" altLang="en-US" sz="4000">
              <a:latin typeface="华文新魏" panose="02010800040101010101" charset="-122"/>
              <a:ea typeface="华文新魏" panose="02010800040101010101" charset="-122"/>
            </a:endParaRPr>
          </a:p>
          <a:p>
            <a:endParaRPr lang="zh-CN" altLang="en-US" sz="4000">
              <a:latin typeface="华文新魏" panose="02010800040101010101" charset="-122"/>
              <a:ea typeface="华文新魏" panose="02010800040101010101" charset="-122"/>
            </a:endParaRPr>
          </a:p>
          <a:p>
            <a:r>
              <a:rPr lang="en-US" altLang="zh-CN" sz="4000">
                <a:latin typeface="华文新魏" panose="02010800040101010101" charset="-122"/>
                <a:ea typeface="华文新魏" panose="02010800040101010101" charset="-122"/>
              </a:rPr>
              <a:t>                                                  </a:t>
            </a:r>
            <a:r>
              <a:rPr lang="en-US" altLang="zh-CN" sz="1800">
                <a:latin typeface="华文新魏" panose="02010800040101010101" charset="-122"/>
                <a:ea typeface="华文新魏" panose="02010800040101010101" charset="-122"/>
              </a:rPr>
              <a:t>250419096</a:t>
            </a:r>
            <a:r>
              <a:rPr lang="zh-CN" altLang="en-US" sz="1800">
                <a:latin typeface="华文新魏" panose="02010800040101010101" charset="-122"/>
                <a:ea typeface="华文新魏" panose="02010800040101010101" charset="-122"/>
              </a:rPr>
              <a:t>沈雨泽</a:t>
            </a:r>
            <a:endParaRPr lang="zh-CN" altLang="en-US" sz="1800"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zh-CN" altLang="en-US"/>
              <a:t>一、</a:t>
            </a:r>
            <a:r>
              <a:rPr lang="en-US" altLang="zh-CN"/>
              <a:t> Word</a:t>
            </a:r>
            <a:r>
              <a:rPr lang="zh-CN" altLang="en-US"/>
              <a:t>：重点在于</a:t>
            </a:r>
            <a:r>
              <a:rPr lang="en-US" altLang="zh-CN"/>
              <a:t>“</a:t>
            </a:r>
            <a:r>
              <a:rPr lang="zh-CN" altLang="en-US"/>
              <a:t>结构化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自动化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3721100"/>
          </a:xfrm>
        </p:spPr>
        <p:txBody>
          <a:bodyPr>
            <a:normAutofit fontScale="85000" lnSpcReduction="20000"/>
          </a:bodyPr>
          <a:p>
            <a:r>
              <a:rPr lang="en-US" altLang="zh-CN"/>
              <a:t>1.</a:t>
            </a:r>
            <a:r>
              <a:rPr lang="zh-CN" altLang="en-US"/>
              <a:t>样式（重中之重）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重点内容：</a:t>
            </a:r>
            <a:r>
              <a:rPr lang="en-US" altLang="zh-CN"/>
              <a:t> </a:t>
            </a:r>
            <a:r>
              <a:rPr lang="zh-CN" altLang="en-US"/>
              <a:t>使用内置标题样式（标题</a:t>
            </a:r>
            <a:r>
              <a:rPr lang="en-US" altLang="zh-CN"/>
              <a:t>1</a:t>
            </a:r>
            <a:r>
              <a:rPr lang="zh-CN" altLang="en-US"/>
              <a:t>、标题</a:t>
            </a:r>
            <a:r>
              <a:rPr lang="en-US" altLang="zh-CN"/>
              <a:t>2</a:t>
            </a:r>
            <a:r>
              <a:rPr lang="zh-CN" altLang="en-US"/>
              <a:t>）、创建和修改样式、用格式刷传递样式。目标是让学员摒弃</a:t>
            </a:r>
            <a:r>
              <a:rPr lang="en-US" altLang="zh-CN"/>
              <a:t>“</a:t>
            </a:r>
            <a:r>
              <a:rPr lang="zh-CN" altLang="en-US"/>
              <a:t>手动调字体字号</a:t>
            </a:r>
            <a:r>
              <a:rPr lang="en-US" altLang="zh-CN"/>
              <a:t>”</a:t>
            </a:r>
            <a:r>
              <a:rPr lang="zh-CN" altLang="en-US"/>
              <a:t>的原始习惯。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长文档自动化管理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重点</a:t>
            </a:r>
            <a:r>
              <a:rPr lang="zh-CN" altLang="en-US"/>
              <a:t>内容：</a:t>
            </a:r>
            <a:endParaRPr lang="zh-CN" altLang="en-US"/>
          </a:p>
          <a:p>
            <a:r>
              <a:rPr lang="zh-CN" altLang="en-US"/>
              <a:t>自动目录：</a:t>
            </a:r>
            <a:r>
              <a:rPr lang="en-US" altLang="zh-CN"/>
              <a:t> </a:t>
            </a:r>
            <a:r>
              <a:rPr lang="zh-CN" altLang="en-US"/>
              <a:t>基于标题样式一键生成和更新。</a:t>
            </a:r>
            <a:endParaRPr lang="en-US" altLang="zh-CN"/>
          </a:p>
          <a:p>
            <a:r>
              <a:rPr lang="zh-CN" altLang="en-US"/>
              <a:t>页眉页脚：</a:t>
            </a:r>
            <a:r>
              <a:rPr lang="en-US" altLang="zh-CN"/>
              <a:t> </a:t>
            </a:r>
            <a:r>
              <a:rPr lang="zh-CN" altLang="en-US"/>
              <a:t>设置首页</a:t>
            </a:r>
            <a:r>
              <a:rPr lang="en-US" altLang="zh-CN"/>
              <a:t>/</a:t>
            </a:r>
            <a:r>
              <a:rPr lang="zh-CN" altLang="en-US"/>
              <a:t>奇偶页不同，并关联</a:t>
            </a:r>
            <a:r>
              <a:rPr lang="en-US" altLang="zh-CN"/>
              <a:t>“</a:t>
            </a:r>
            <a:r>
              <a:rPr lang="zh-CN" altLang="en-US"/>
              <a:t>章节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题注与交叉引用：</a:t>
            </a:r>
            <a:r>
              <a:rPr lang="en-US" altLang="zh-CN"/>
              <a:t> </a:t>
            </a:r>
            <a:r>
              <a:rPr lang="zh-CN" altLang="en-US"/>
              <a:t>为图、表自动编号。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高效协作与审阅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重点内容：</a:t>
            </a:r>
            <a:r>
              <a:rPr lang="en-US" altLang="zh-CN"/>
              <a:t> “</a:t>
            </a:r>
            <a:r>
              <a:rPr lang="zh-CN" altLang="en-US"/>
              <a:t>修订</a:t>
            </a:r>
            <a:r>
              <a:rPr lang="en-US" altLang="zh-CN"/>
              <a:t>”</a:t>
            </a:r>
            <a:r>
              <a:rPr lang="zh-CN" altLang="en-US"/>
              <a:t>模式跟踪所有更改；</a:t>
            </a:r>
            <a:r>
              <a:rPr lang="en-US" altLang="zh-CN"/>
              <a:t>“</a:t>
            </a:r>
            <a:r>
              <a:rPr lang="zh-CN" altLang="en-US"/>
              <a:t>批注</a:t>
            </a:r>
            <a:r>
              <a:rPr lang="en-US" altLang="zh-CN"/>
              <a:t>”</a:t>
            </a:r>
            <a:r>
              <a:rPr lang="zh-CN" altLang="en-US"/>
              <a:t>进行讨论；利用</a:t>
            </a:r>
            <a:r>
              <a:rPr lang="en-US" altLang="zh-CN"/>
              <a:t>“</a:t>
            </a:r>
            <a:r>
              <a:rPr lang="zh-CN" altLang="en-US"/>
              <a:t>比较</a:t>
            </a:r>
            <a:r>
              <a:rPr lang="en-US" altLang="zh-CN"/>
              <a:t>”</a:t>
            </a:r>
            <a:r>
              <a:rPr lang="zh-CN" altLang="en-US"/>
              <a:t>功能合并不同版本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Excel</a:t>
            </a:r>
            <a:r>
              <a:rPr lang="zh-CN" altLang="en-US"/>
              <a:t>：重点在于</a:t>
            </a:r>
            <a:r>
              <a:rPr lang="en-US" altLang="zh-CN"/>
              <a:t>“</a:t>
            </a:r>
            <a:r>
              <a:rPr lang="zh-CN" altLang="en-US"/>
              <a:t>数据思维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分析工具</a:t>
            </a:r>
            <a:r>
              <a:rPr lang="en-US" altLang="zh-CN"/>
              <a:t>”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5000"/>
          </a:bodyPr>
          <a:p>
            <a:r>
              <a:rPr lang="en-US" altLang="zh-CN"/>
              <a:t>1.</a:t>
            </a:r>
            <a:r>
              <a:rPr lang="zh-CN" altLang="en-US"/>
              <a:t>数据透视表（绝对核心）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重点内容：</a:t>
            </a:r>
            <a:r>
              <a:rPr lang="en-US" altLang="zh-CN"/>
              <a:t> </a:t>
            </a:r>
            <a:r>
              <a:rPr lang="zh-CN" altLang="en-US"/>
              <a:t>创建透视表、拖拽字段布局（行、列、值、筛选）、组合日期</a:t>
            </a:r>
            <a:r>
              <a:rPr lang="en-US" altLang="zh-CN"/>
              <a:t>/</a:t>
            </a:r>
            <a:r>
              <a:rPr lang="zh-CN" altLang="en-US"/>
              <a:t>文本、计算字段和项、一键生成透视图表。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核心函数（精选关键函数）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重点内容（按优先级）：</a:t>
            </a:r>
            <a:endParaRPr lang="en-US" altLang="zh-CN"/>
          </a:p>
          <a:p>
            <a:r>
              <a:rPr lang="zh-CN" altLang="en-US"/>
              <a:t>查找引用类：</a:t>
            </a:r>
            <a:r>
              <a:rPr lang="en-US" altLang="zh-CN"/>
              <a:t> VLOOKUP/XLOOKUP</a:t>
            </a:r>
            <a:r>
              <a:rPr lang="zh-CN" altLang="en-US"/>
              <a:t>（数据关联的核心）。</a:t>
            </a:r>
            <a:endParaRPr lang="en-US" altLang="zh-CN"/>
          </a:p>
          <a:p>
            <a:r>
              <a:rPr lang="zh-CN" altLang="en-US"/>
              <a:t>逻辑判断类：</a:t>
            </a:r>
            <a:r>
              <a:rPr lang="en-US" altLang="zh-CN"/>
              <a:t> IF</a:t>
            </a:r>
            <a:r>
              <a:rPr lang="zh-CN" altLang="en-US"/>
              <a:t>及其嵌套、</a:t>
            </a:r>
            <a:r>
              <a:rPr lang="en-US" altLang="zh-CN"/>
              <a:t>IFS</a:t>
            </a:r>
            <a:r>
              <a:rPr lang="zh-CN" altLang="en-US"/>
              <a:t>（条件计算）。</a:t>
            </a:r>
            <a:endParaRPr lang="en-US" altLang="zh-CN"/>
          </a:p>
          <a:p>
            <a:r>
              <a:rPr lang="zh-CN" altLang="en-US"/>
              <a:t>统计求和类：</a:t>
            </a:r>
            <a:r>
              <a:rPr lang="en-US" altLang="zh-CN"/>
              <a:t> SUMIFS</a:t>
            </a:r>
            <a:r>
              <a:rPr lang="zh-CN" altLang="en-US"/>
              <a:t>、</a:t>
            </a:r>
            <a:r>
              <a:rPr lang="en-US" altLang="zh-CN"/>
              <a:t>COUNTIFS</a:t>
            </a:r>
            <a:r>
              <a:rPr lang="zh-CN" altLang="en-US"/>
              <a:t>（多条件统计）。</a:t>
            </a:r>
            <a:endParaRPr lang="zh-CN" altLang="en-US"/>
          </a:p>
          <a:p>
            <a:r>
              <a:rPr lang="zh-CN" altLang="en-US"/>
              <a:t>文本处理类：</a:t>
            </a:r>
            <a:r>
              <a:rPr lang="en-US" altLang="zh-CN"/>
              <a:t> TEXTSPLIT</a:t>
            </a:r>
            <a:r>
              <a:rPr lang="zh-CN" altLang="en-US"/>
              <a:t>、</a:t>
            </a:r>
            <a:r>
              <a:rPr lang="en-US" altLang="zh-CN"/>
              <a:t>TEXTJOIN</a:t>
            </a:r>
            <a:r>
              <a:rPr lang="zh-CN" altLang="en-US"/>
              <a:t>（数据清洗）。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数据规范与基础图表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重点内容：</a:t>
            </a:r>
            <a:endParaRPr lang="en-US" altLang="zh-CN"/>
          </a:p>
          <a:p>
            <a:r>
              <a:rPr lang="zh-CN" altLang="en-US"/>
              <a:t>规范：</a:t>
            </a:r>
            <a:r>
              <a:rPr lang="en-US" altLang="zh-CN"/>
              <a:t> </a:t>
            </a:r>
            <a:r>
              <a:rPr lang="zh-CN" altLang="en-US"/>
              <a:t>使用表格（</a:t>
            </a:r>
            <a:r>
              <a:rPr lang="en-US" altLang="zh-CN"/>
              <a:t>Ctrl+T</a:t>
            </a:r>
            <a:r>
              <a:rPr lang="zh-CN" altLang="en-US"/>
              <a:t>）、数据验证、分列。</a:t>
            </a:r>
            <a:endParaRPr lang="en-US" altLang="zh-CN"/>
          </a:p>
          <a:p>
            <a:r>
              <a:rPr lang="zh-CN" altLang="en-US"/>
              <a:t>图表：</a:t>
            </a:r>
            <a:r>
              <a:rPr lang="en-US" altLang="zh-CN"/>
              <a:t> </a:t>
            </a:r>
            <a:r>
              <a:rPr lang="zh-CN" altLang="en-US"/>
              <a:t>选择正确的图表类型（柱状图对比、折线图看趋势、饼图看占比）、美化图表原则（简化、突出重点）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三、</a:t>
            </a:r>
            <a:r>
              <a:rPr lang="en-US" altLang="zh-CN"/>
              <a:t>PowerPoint</a:t>
            </a:r>
            <a:r>
              <a:rPr lang="zh-CN" altLang="en-US"/>
              <a:t>：重点在于</a:t>
            </a:r>
            <a:r>
              <a:rPr lang="en-US" altLang="zh-CN"/>
              <a:t>“</a:t>
            </a:r>
            <a:r>
              <a:rPr lang="zh-CN" altLang="en-US"/>
              <a:t>视觉化表达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高效设计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1.</a:t>
            </a:r>
            <a:r>
              <a:rPr lang="zh-CN" altLang="en-US"/>
              <a:t>设计思维与原则（底层逻辑）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重点内容：</a:t>
            </a:r>
            <a:r>
              <a:rPr lang="en-US" altLang="zh-CN"/>
              <a:t> CRAP</a:t>
            </a:r>
            <a:r>
              <a:rPr lang="zh-CN" altLang="en-US"/>
              <a:t>原则</a:t>
            </a:r>
            <a:r>
              <a:rPr lang="en-US" altLang="zh-CN"/>
              <a:t>——</a:t>
            </a:r>
            <a:r>
              <a:rPr lang="zh-CN" altLang="en-US"/>
              <a:t>对比（突出）、重复（统一）、对齐（秩序）、亲密（关联）。强调</a:t>
            </a:r>
            <a:r>
              <a:rPr lang="en-US" altLang="zh-CN"/>
              <a:t>“</a:t>
            </a:r>
            <a:r>
              <a:rPr lang="zh-CN" altLang="en-US"/>
              <a:t>一图胜千言</a:t>
            </a:r>
            <a:r>
              <a:rPr lang="en-US" altLang="zh-CN"/>
              <a:t>”</a:t>
            </a:r>
            <a:r>
              <a:rPr lang="zh-CN" altLang="en-US"/>
              <a:t>，用图表、图标、图示替代大段文字。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幻灯片母版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重点内容：</a:t>
            </a:r>
            <a:r>
              <a:rPr lang="en-US" altLang="zh-CN"/>
              <a:t> </a:t>
            </a:r>
            <a:r>
              <a:rPr lang="zh-CN" altLang="en-US"/>
              <a:t>进入母版视图、设置主题字体</a:t>
            </a:r>
            <a:r>
              <a:rPr lang="en-US" altLang="zh-CN"/>
              <a:t>/</a:t>
            </a:r>
            <a:r>
              <a:rPr lang="zh-CN" altLang="en-US"/>
              <a:t>颜色、设计版式（标题页、内容页、结束页）、添加公司</a:t>
            </a:r>
            <a:r>
              <a:rPr lang="en-US" altLang="zh-CN"/>
              <a:t>LOGO</a:t>
            </a:r>
            <a:r>
              <a:rPr lang="zh-CN" altLang="en-US"/>
              <a:t>和页码。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演讲者工具与结构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重点内容：</a:t>
            </a:r>
            <a:endParaRPr lang="en-US" altLang="zh-CN"/>
          </a:p>
          <a:p>
            <a:r>
              <a:rPr lang="zh-CN" altLang="en-US"/>
              <a:t>结构：</a:t>
            </a:r>
            <a:r>
              <a:rPr lang="en-US" altLang="zh-CN"/>
              <a:t> </a:t>
            </a:r>
            <a:r>
              <a:rPr lang="zh-CN" altLang="en-US"/>
              <a:t>清晰的导航（目录页、章节过渡页）。</a:t>
            </a:r>
            <a:endParaRPr lang="en-US" altLang="zh-CN"/>
          </a:p>
          <a:p>
            <a:r>
              <a:rPr lang="zh-CN" altLang="en-US"/>
              <a:t>工具：</a:t>
            </a:r>
            <a:r>
              <a:rPr lang="en-US" altLang="zh-CN"/>
              <a:t> </a:t>
            </a:r>
            <a:r>
              <a:rPr lang="zh-CN" altLang="en-US"/>
              <a:t>演讲者视图（看备注、控制节奏）、快捷键（</a:t>
            </a:r>
            <a:r>
              <a:rPr lang="en-US" altLang="zh-CN"/>
              <a:t>F5</a:t>
            </a:r>
            <a:r>
              <a:rPr lang="zh-CN" altLang="en-US"/>
              <a:t>、</a:t>
            </a:r>
            <a:r>
              <a:rPr lang="en-US" altLang="zh-CN"/>
              <a:t>B/W</a:t>
            </a:r>
            <a:r>
              <a:rPr lang="zh-CN" altLang="en-US"/>
              <a:t>黑屏白屏）。</a:t>
            </a:r>
            <a:endParaRPr lang="en-US" altLang="zh-CN"/>
          </a:p>
          <a:p>
            <a:r>
              <a:rPr lang="zh-CN" altLang="en-US"/>
              <a:t>动画：</a:t>
            </a:r>
            <a:r>
              <a:rPr lang="en-US" altLang="zh-CN"/>
              <a:t> </a:t>
            </a:r>
            <a:r>
              <a:rPr lang="zh-CN" altLang="en-US"/>
              <a:t>克制地使用平滑淡入、路径动画来引导观众视线，而非炫技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四、</a:t>
            </a:r>
            <a:r>
              <a:rPr lang="en-US" altLang="zh-CN"/>
              <a:t> </a:t>
            </a:r>
            <a:r>
              <a:rPr lang="zh-CN" altLang="en-US"/>
              <a:t>贯穿始终的协同与效率重点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云协作：</a:t>
            </a:r>
            <a:r>
              <a:rPr lang="en-US" altLang="zh-CN"/>
              <a:t> </a:t>
            </a:r>
            <a:r>
              <a:rPr lang="zh-CN" altLang="en-US"/>
              <a:t>使用</a:t>
            </a:r>
            <a:r>
              <a:rPr lang="en-US" altLang="zh-CN"/>
              <a:t>OneDrive/SharePoint</a:t>
            </a:r>
            <a:r>
              <a:rPr lang="zh-CN" altLang="en-US"/>
              <a:t>保存，实现实时共同编辑、版本历史和跨设备访问。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快捷键：</a:t>
            </a:r>
            <a:r>
              <a:rPr lang="en-US" altLang="zh-CN"/>
              <a:t> </a:t>
            </a:r>
            <a:r>
              <a:rPr lang="zh-CN" altLang="en-US"/>
              <a:t>掌握</a:t>
            </a:r>
            <a:r>
              <a:rPr lang="en-US" altLang="zh-CN"/>
              <a:t>Ctrl+C/V/S/Z</a:t>
            </a:r>
            <a:r>
              <a:rPr lang="zh-CN" altLang="en-US"/>
              <a:t>等通用快捷键，以及</a:t>
            </a:r>
            <a:r>
              <a:rPr lang="en-US" altLang="zh-CN"/>
              <a:t>F4</a:t>
            </a:r>
            <a:r>
              <a:rPr lang="zh-CN" altLang="en-US"/>
              <a:t>（重复上一步操作）等神器。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思维转变：</a:t>
            </a:r>
            <a:r>
              <a:rPr lang="en-US" altLang="zh-CN"/>
              <a:t> </a:t>
            </a:r>
            <a:r>
              <a:rPr lang="zh-CN" altLang="en-US"/>
              <a:t>教会学员遇到问题时，先思考</a:t>
            </a:r>
            <a:r>
              <a:rPr lang="en-US" altLang="zh-CN"/>
              <a:t>“Office</a:t>
            </a:r>
            <a:r>
              <a:rPr lang="zh-CN" altLang="en-US"/>
              <a:t>有没有现成的工具可以高效解决？</a:t>
            </a:r>
            <a:r>
              <a:rPr lang="en-US" altLang="zh-CN"/>
              <a:t>”</a:t>
            </a:r>
            <a:r>
              <a:rPr lang="zh-CN" altLang="en-US"/>
              <a:t>（例如，用</a:t>
            </a:r>
            <a:r>
              <a:rPr lang="en-US" altLang="zh-CN"/>
              <a:t>“</a:t>
            </a:r>
            <a:r>
              <a:rPr lang="zh-CN" altLang="en-US"/>
              <a:t>样式</a:t>
            </a:r>
            <a:r>
              <a:rPr lang="en-US" altLang="zh-CN"/>
              <a:t>”</a:t>
            </a:r>
            <a:r>
              <a:rPr lang="zh-CN" altLang="en-US"/>
              <a:t>而非手动调格式，用</a:t>
            </a:r>
            <a:r>
              <a:rPr lang="en-US" altLang="zh-CN"/>
              <a:t>“</a:t>
            </a:r>
            <a:r>
              <a:rPr lang="zh-CN" altLang="en-US"/>
              <a:t>透视表</a:t>
            </a:r>
            <a:r>
              <a:rPr lang="en-US" altLang="zh-CN"/>
              <a:t>”</a:t>
            </a:r>
            <a:r>
              <a:rPr lang="zh-CN" altLang="en-US"/>
              <a:t>而非手动筛选求和）。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WPS 演示</Application>
  <PresentationFormat>宽屏</PresentationFormat>
  <Paragraphs>53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华文新魏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WPS_1761989302</cp:lastModifiedBy>
  <cp:revision>157</cp:revision>
  <dcterms:created xsi:type="dcterms:W3CDTF">2019-06-19T02:08:00Z</dcterms:created>
  <dcterms:modified xsi:type="dcterms:W3CDTF">2026-01-07T08:31:27Z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BF1A60A0501245019A432576DE45A916_11</vt:lpwstr>
  </property>
</Properties>
</file>